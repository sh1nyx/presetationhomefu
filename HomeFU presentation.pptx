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9" r:id="rId4"/>
    <p:sldId id="257" r:id="rId5"/>
    <p:sldId id="258" r:id="rId6"/>
    <p:sldId id="260" r:id="rId7"/>
    <p:sldId id="261" r:id="rId8"/>
    <p:sldId id="262" r:id="rId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Изображение 6" descr="ChatGPT Image 26 сент. 2026 г., 15_53_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93345"/>
            <a:ext cx="18287365" cy="10379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7733030"/>
            <a:ext cx="11610975" cy="39497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3080"/>
              </a:lnSpc>
              <a:defRPr sz="2100" b="0" i="0" u="none">
                <a:solidFill>
                  <a:srgbClr val="FFFFFF"/>
                </a:solidFill>
                <a:latin typeface="Inter"/>
              </a:defRPr>
            </a:pPr>
            <a:r>
              <a:rPr sz="2100" b="1" i="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Inter"/>
              </a:rPr>
              <a:t>An educational project using React, Vite, Node.js, and NeonDB.</a:t>
            </a:r>
            <a:endParaRPr sz="2100" b="1" i="0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8512175"/>
            <a:ext cx="11610975" cy="8077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ts val="6300"/>
              </a:lnSpc>
              <a:defRPr sz="6000" b="1" i="0" u="none">
                <a:solidFill>
                  <a:srgbClr val="FFFFFF"/>
                </a:solidFill>
                <a:latin typeface="Inter"/>
              </a:defRPr>
            </a:pPr>
            <a:r>
              <a:rPr lang="en-US" sz="6000" b="1" i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Inter"/>
              </a:rPr>
              <a:t>HomeFU</a:t>
            </a:r>
            <a:endParaRPr lang="en-US" sz="6000" b="1" i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11887200" cy="10287000"/>
          </a:xfrm>
          <a:prstGeom prst="rect">
            <a:avLst/>
          </a:prstGeom>
          <a:solidFill>
            <a:srgbClr val="F9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53920"/>
            <a:ext cx="6058535" cy="829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 u="none">
                <a:solidFill>
                  <a:srgbClr val="000000"/>
                </a:solidFill>
                <a:latin typeface="Aptos"/>
              </a:defRPr>
            </a:pPr>
            <a:r>
              <a:rPr lang="uk-UA" sz="4800" b="1" i="0">
                <a:solidFill>
                  <a:srgbClr val="000000"/>
                </a:solidFill>
                <a:latin typeface="Aptos"/>
              </a:rPr>
              <a:t>Опис проекту</a:t>
            </a:r>
            <a:endParaRPr lang="uk-UA" sz="48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0285" y="4442143"/>
            <a:ext cx="5048250" cy="1184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80"/>
              </a:lnSpc>
              <a:defRPr sz="2100" b="0" i="0" u="none">
                <a:solidFill>
                  <a:srgbClr val="000000"/>
                </a:solidFill>
                <a:latin typeface="Inter"/>
              </a:defRPr>
            </a:pPr>
            <a:r>
              <a:rPr lang="en-US" sz="2100" b="0" i="0">
                <a:solidFill>
                  <a:srgbClr val="0015FF"/>
                </a:solidFill>
                <a:latin typeface="Inter"/>
              </a:rPr>
              <a:t>HomeFU - </a:t>
            </a:r>
            <a:r>
              <a:rPr lang="uk-UA" sz="2100" b="0" i="0">
                <a:solidFill>
                  <a:srgbClr val="0015FF"/>
                </a:solidFill>
                <a:latin typeface="Inter"/>
              </a:rPr>
              <a:t>це додаток, створений для бронювання онлайн та розміщення власних пропозицій </a:t>
            </a:r>
            <a:endParaRPr lang="uk-UA" sz="2100" b="0" i="0">
              <a:solidFill>
                <a:srgbClr val="0015FF"/>
              </a:solidFill>
              <a:latin typeface="Inter"/>
            </a:endParaRPr>
          </a:p>
        </p:txBody>
      </p:sp>
      <p:pic>
        <p:nvPicPr>
          <p:cNvPr id="7" name="Изображение 6" descr="ChatGPT Image 26 сент. 2026 г., 15_50_38"/>
          <p:cNvPicPr>
            <a:picLocks noChangeAspect="1"/>
          </p:cNvPicPr>
          <p:nvPr/>
        </p:nvPicPr>
        <p:blipFill>
          <a:blip r:embed="rId1"/>
          <a:srcRect l="37876"/>
          <a:stretch>
            <a:fillRect/>
          </a:stretch>
        </p:blipFill>
        <p:spPr>
          <a:xfrm>
            <a:off x="6386195" y="0"/>
            <a:ext cx="11901805" cy="10353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00" y="0"/>
            <a:ext cx="6400800" cy="10287000"/>
          </a:xfrm>
          <a:prstGeom prst="rect">
            <a:avLst/>
          </a:prstGeom>
          <a:solidFill>
            <a:srgbClr val="F9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880" y="781050"/>
            <a:ext cx="10534650" cy="394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80"/>
              </a:lnSpc>
              <a:defRPr sz="2100" b="0" i="0" u="none">
                <a:solidFill>
                  <a:srgbClr val="000000"/>
                </a:solidFill>
                <a:latin typeface="Inter"/>
              </a:defRPr>
            </a:pPr>
            <a:r>
              <a:rPr sz="2100" b="0" i="0">
                <a:solidFill>
                  <a:srgbClr val="0015FF"/>
                </a:solidFill>
                <a:latin typeface="Inter"/>
              </a:rPr>
              <a:t>•</a:t>
            </a:r>
            <a:r>
              <a:rPr lang="uk-UA" sz="2100" b="0" i="0">
                <a:solidFill>
                  <a:srgbClr val="0015FF"/>
                </a:solidFill>
                <a:latin typeface="Inter"/>
              </a:rPr>
              <a:t>Автори проекту:</a:t>
            </a:r>
            <a:endParaRPr lang="uk-UA" sz="2100" b="0" i="0">
              <a:solidFill>
                <a:srgbClr val="0015FF"/>
              </a:solidFill>
              <a:latin typeface="Inter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598" y="1750975"/>
            <a:ext cx="3528000" cy="3528000"/>
          </a:xfrm>
          <a:prstGeom prst="rect">
            <a:avLst/>
          </a:prstGeom>
        </p:spPr>
      </p:pic>
      <p:sp>
        <p:nvSpPr>
          <p:cNvPr id="6" name="TextBox 4"/>
          <p:cNvSpPr txBox="1"/>
          <p:nvPr/>
        </p:nvSpPr>
        <p:spPr>
          <a:xfrm>
            <a:off x="-187325" y="5429885"/>
            <a:ext cx="5283200" cy="394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3080"/>
              </a:lnSpc>
              <a:defRPr sz="2100" b="0" i="0" u="none">
                <a:solidFill>
                  <a:srgbClr val="000000"/>
                </a:solidFill>
                <a:latin typeface="Inter"/>
              </a:defRPr>
            </a:pPr>
            <a:r>
              <a:rPr lang="uk-UA" sz="2100" b="0" i="0">
                <a:solidFill>
                  <a:srgbClr val="0015FF"/>
                </a:solidFill>
                <a:latin typeface="Inter"/>
              </a:rPr>
              <a:t>Денежко Володимир</a:t>
            </a:r>
            <a:endParaRPr lang="uk-UA" sz="2100" b="0" i="0">
              <a:solidFill>
                <a:srgbClr val="0015FF"/>
              </a:solidFill>
              <a:latin typeface="Inter"/>
            </a:endParaRPr>
          </a:p>
        </p:txBody>
      </p:sp>
      <p:pic>
        <p:nvPicPr>
          <p:cNvPr id="8" name="Объект 4"/>
          <p:cNvPicPr>
            <a:picLocks noGrp="1" noChangeAspect="1"/>
          </p:cNvPicPr>
          <p:nvPr/>
        </p:nvPicPr>
        <p:blipFill>
          <a:blip r:embed="rId2"/>
          <a:srcRect l="1466" t="-1" r="2456" b="352"/>
          <a:stretch>
            <a:fillRect/>
          </a:stretch>
        </p:blipFill>
        <p:spPr>
          <a:xfrm>
            <a:off x="7073609" y="5825135"/>
            <a:ext cx="3528000" cy="3528000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6196330" y="5278755"/>
            <a:ext cx="5283200" cy="3949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3080"/>
              </a:lnSpc>
              <a:defRPr sz="2100" b="0" i="0" u="none">
                <a:solidFill>
                  <a:srgbClr val="000000"/>
                </a:solidFill>
                <a:latin typeface="Inter"/>
              </a:defRPr>
            </a:pPr>
            <a:r>
              <a:rPr lang="uk-UA" sz="2100" b="0" i="0">
                <a:solidFill>
                  <a:srgbClr val="0015FF"/>
                </a:solidFill>
                <a:latin typeface="Inter"/>
              </a:rPr>
              <a:t>Халюк Данііл</a:t>
            </a:r>
            <a:endParaRPr lang="uk-UA" sz="2100" b="0" i="0">
              <a:solidFill>
                <a:srgbClr val="0015FF"/>
              </a:solidFill>
              <a:latin typeface="Inter"/>
            </a:endParaRPr>
          </a:p>
        </p:txBody>
      </p:sp>
      <p:pic>
        <p:nvPicPr>
          <p:cNvPr id="14" name="Изображение 13" descr="ChatGPT Image 26 сент. 2026 г., 15_49_26"/>
          <p:cNvPicPr>
            <a:picLocks noChangeAspect="1"/>
          </p:cNvPicPr>
          <p:nvPr/>
        </p:nvPicPr>
        <p:blipFill>
          <a:blip r:embed="rId3"/>
          <a:srcRect l="55839"/>
          <a:stretch>
            <a:fillRect/>
          </a:stretch>
        </p:blipFill>
        <p:spPr>
          <a:xfrm>
            <a:off x="11326495" y="0"/>
            <a:ext cx="6961505" cy="10286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733550" y="1209993"/>
            <a:ext cx="14820900" cy="9220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 u="none">
                <a:solidFill>
                  <a:srgbClr val="000000"/>
                </a:solidFill>
                <a:latin typeface="Aptos"/>
              </a:defRPr>
            </a:pPr>
            <a:r>
              <a:rPr lang="uk-UA" sz="5400" b="1" i="0">
                <a:solidFill>
                  <a:srgbClr val="000000"/>
                </a:solidFill>
                <a:latin typeface="Aptos"/>
              </a:rPr>
              <a:t>Технології</a:t>
            </a:r>
            <a:endParaRPr lang="uk-UA" sz="5400" b="1" i="0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7" name="Изображение 6" descr="ChatGPT Image 26 сент. 2026 г., 15_57_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32330"/>
            <a:ext cx="18288000" cy="67703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237345" y="0"/>
            <a:ext cx="9144000" cy="10287000"/>
          </a:xfrm>
          <a:prstGeom prst="rect">
            <a:avLst/>
          </a:prstGeom>
          <a:solidFill>
            <a:srgbClr val="F9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75900" y="1344295"/>
            <a:ext cx="6866255" cy="11557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2400" b="1" i="0" u="none">
                <a:solidFill>
                  <a:srgbClr val="000000"/>
                </a:solidFill>
                <a:latin typeface="Aptos"/>
              </a:defRPr>
            </a:pPr>
            <a:r>
              <a:rPr lang="ru-RU" sz="5400" b="1" i="0">
                <a:solidFill>
                  <a:srgbClr val="000000"/>
                </a:solidFill>
                <a:latin typeface="Aptos"/>
              </a:rPr>
              <a:t>Переваги</a:t>
            </a:r>
            <a:endParaRPr lang="ru-RU" sz="54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13620" y="3285490"/>
            <a:ext cx="7791450" cy="1184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80"/>
              </a:lnSpc>
              <a:defRPr sz="2100" b="0" i="0" u="none">
                <a:solidFill>
                  <a:srgbClr val="000000"/>
                </a:solidFill>
                <a:latin typeface="Inter"/>
              </a:defRPr>
            </a:pPr>
            <a:r>
              <a:rPr sz="3600" b="0" i="0">
                <a:solidFill>
                  <a:srgbClr val="0015FF"/>
                </a:solidFill>
                <a:latin typeface="Inter"/>
              </a:rPr>
              <a:t>• </a:t>
            </a:r>
            <a:r>
              <a:rPr lang="uk-UA" sz="3600" b="0" i="0">
                <a:solidFill>
                  <a:srgbClr val="000000"/>
                </a:solidFill>
                <a:latin typeface="Inter"/>
              </a:rPr>
              <a:t>Інтуітивний дизайн</a:t>
            </a:r>
            <a:endParaRPr sz="3600" b="0" i="0">
              <a:solidFill>
                <a:srgbClr val="000000"/>
              </a:solidFill>
              <a:latin typeface="Inter"/>
            </a:endParaRPr>
          </a:p>
          <a:p>
            <a:pPr algn="l">
              <a:lnSpc>
                <a:spcPts val="3080"/>
              </a:lnSpc>
              <a:defRPr sz="2100" b="0" i="0" u="none">
                <a:solidFill>
                  <a:srgbClr val="000000"/>
                </a:solidFill>
                <a:latin typeface="Inter"/>
              </a:defRPr>
            </a:pPr>
            <a:r>
              <a:rPr sz="3600" b="0" i="0">
                <a:solidFill>
                  <a:srgbClr val="0015FF"/>
                </a:solidFill>
                <a:latin typeface="Inter"/>
              </a:rPr>
              <a:t>• </a:t>
            </a:r>
            <a:r>
              <a:rPr lang="uk-UA" sz="3600" b="0" i="0">
                <a:solidFill>
                  <a:srgbClr val="000000"/>
                </a:solidFill>
                <a:latin typeface="Inter"/>
              </a:rPr>
              <a:t>Широкий вибір регіонів</a:t>
            </a:r>
            <a:endParaRPr sz="3600" b="0" i="0">
              <a:solidFill>
                <a:srgbClr val="000000"/>
              </a:solidFill>
              <a:latin typeface="Inter"/>
            </a:endParaRPr>
          </a:p>
          <a:p>
            <a:pPr algn="l">
              <a:lnSpc>
                <a:spcPts val="3080"/>
              </a:lnSpc>
              <a:defRPr sz="2100" b="0" i="0" u="none">
                <a:solidFill>
                  <a:srgbClr val="000000"/>
                </a:solidFill>
                <a:latin typeface="Inter"/>
              </a:defRPr>
            </a:pPr>
            <a:r>
              <a:rPr sz="3600" b="0" i="0">
                <a:solidFill>
                  <a:srgbClr val="0015FF"/>
                </a:solidFill>
                <a:latin typeface="Inter"/>
              </a:rPr>
              <a:t>• </a:t>
            </a:r>
            <a:r>
              <a:rPr lang="uk-UA" sz="3600" b="0" i="0">
                <a:solidFill>
                  <a:srgbClr val="000000"/>
                </a:solidFill>
                <a:latin typeface="Inter"/>
              </a:rPr>
              <a:t>Гнучкі фільтри пошуку</a:t>
            </a:r>
            <a:endParaRPr lang="uk-UA" sz="3600" b="0" i="0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7" name="Изображение 6" descr="ChatGPT Image 26 сент. 2026 г., 16_01_04"/>
          <p:cNvPicPr>
            <a:picLocks noChangeAspect="1"/>
          </p:cNvPicPr>
          <p:nvPr/>
        </p:nvPicPr>
        <p:blipFill>
          <a:blip r:embed="rId1"/>
          <a:srcRect r="41994"/>
          <a:stretch>
            <a:fillRect/>
          </a:stretch>
        </p:blipFill>
        <p:spPr>
          <a:xfrm>
            <a:off x="0" y="0"/>
            <a:ext cx="9236710" cy="102844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Изображение 3" descr="Без имени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8287365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289560" y="1537335"/>
            <a:ext cx="7113905" cy="140779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2400" b="1" i="0" u="none">
                <a:solidFill>
                  <a:srgbClr val="000000"/>
                </a:solidFill>
                <a:latin typeface="Aptos"/>
              </a:defRPr>
            </a:pPr>
            <a:r>
              <a:rPr lang="uk-UA" altLang="ru-RU" sz="3200" b="1" i="0">
                <a:solidFill>
                  <a:srgbClr val="000000"/>
                </a:solidFill>
                <a:latin typeface="Aptos"/>
              </a:rPr>
              <a:t>Плани на подальшу розробку</a:t>
            </a:r>
            <a:endParaRPr lang="uk-UA" altLang="ru-RU" sz="3200" b="1" i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2945130"/>
            <a:ext cx="5314950" cy="43967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342900" indent="-342900" algn="l">
              <a:lnSpc>
                <a:spcPts val="3150"/>
              </a:lnSpc>
              <a:buFont typeface="Arial" panose="020B0604020202020204" pitchFamily="34" charset="0"/>
              <a:buChar char="•"/>
              <a:defRPr sz="2100" b="0" i="0" u="none">
                <a:solidFill>
                  <a:srgbClr val="000000"/>
                </a:solidFill>
                <a:latin typeface="Inter"/>
              </a:defRPr>
            </a:pPr>
            <a:r>
              <a:rPr lang="uk-UA" altLang="ru-RU" sz="2800" b="0" i="0">
                <a:solidFill>
                  <a:srgbClr val="000000"/>
                </a:solidFill>
                <a:latin typeface="Inter"/>
              </a:rPr>
              <a:t>Реєстрація</a:t>
            </a:r>
            <a:r>
              <a:rPr lang="en-US" altLang="ru-RU" sz="2800" b="0" i="0">
                <a:solidFill>
                  <a:srgbClr val="000000"/>
                </a:solidFill>
                <a:latin typeface="Inter"/>
              </a:rPr>
              <a:t>/</a:t>
            </a:r>
            <a:r>
              <a:rPr lang="ru-RU" altLang="ru-RU" sz="2800" b="0" i="0">
                <a:solidFill>
                  <a:srgbClr val="000000"/>
                </a:solidFill>
                <a:latin typeface="Inter"/>
              </a:rPr>
              <a:t>авто</a:t>
            </a:r>
            <a:r>
              <a:rPr lang="uk-UA" altLang="ru-RU" sz="2800" b="0" i="0">
                <a:solidFill>
                  <a:srgbClr val="000000"/>
                </a:solidFill>
                <a:latin typeface="Inter"/>
              </a:rPr>
              <a:t>ризація через </a:t>
            </a:r>
            <a:r>
              <a:rPr lang="en-US" altLang="ru-RU" sz="2800" b="0" i="0">
                <a:solidFill>
                  <a:srgbClr val="000000"/>
                </a:solidFill>
                <a:latin typeface="Inter"/>
              </a:rPr>
              <a:t>google/facebook/etc. </a:t>
            </a:r>
            <a:endParaRPr lang="en-US" altLang="ru-RU" sz="2800" b="0" i="0">
              <a:solidFill>
                <a:srgbClr val="000000"/>
              </a:solidFill>
              <a:latin typeface="Inter"/>
            </a:endParaRPr>
          </a:p>
          <a:p>
            <a:pPr marL="342900" indent="-342900" algn="l">
              <a:lnSpc>
                <a:spcPts val="3150"/>
              </a:lnSpc>
              <a:buFont typeface="Arial" panose="020B0604020202020204" pitchFamily="34" charset="0"/>
              <a:buChar char="•"/>
              <a:defRPr sz="2100" b="0" i="0" u="none">
                <a:solidFill>
                  <a:srgbClr val="000000"/>
                </a:solidFill>
                <a:latin typeface="Inter"/>
              </a:defRPr>
            </a:pPr>
            <a:r>
              <a:rPr lang="uk-UA" altLang="en-US" sz="2800" b="0" i="0">
                <a:solidFill>
                  <a:srgbClr val="000000"/>
                </a:solidFill>
                <a:latin typeface="Inter"/>
              </a:rPr>
              <a:t>Персональний рейтинг користувачів</a:t>
            </a:r>
            <a:r>
              <a:rPr lang="en-US" altLang="uk-UA" sz="2800" b="0" i="0">
                <a:solidFill>
                  <a:srgbClr val="000000"/>
                </a:solidFill>
                <a:latin typeface="Inter"/>
              </a:rPr>
              <a:t>-</a:t>
            </a:r>
            <a:r>
              <a:rPr lang="uk-UA" altLang="uk-UA" sz="2800" b="0" i="0">
                <a:solidFill>
                  <a:srgbClr val="000000"/>
                </a:solidFill>
                <a:latin typeface="Inter"/>
              </a:rPr>
              <a:t>арендодавців</a:t>
            </a:r>
            <a:endParaRPr lang="uk-UA" altLang="uk-UA" sz="2800" b="0" i="0">
              <a:solidFill>
                <a:srgbClr val="000000"/>
              </a:solidFill>
              <a:latin typeface="Inter"/>
            </a:endParaRPr>
          </a:p>
          <a:p>
            <a:pPr marL="342900" indent="-342900" algn="l">
              <a:lnSpc>
                <a:spcPts val="3150"/>
              </a:lnSpc>
              <a:buFont typeface="Arial" panose="020B0604020202020204" pitchFamily="34" charset="0"/>
              <a:buChar char="•"/>
              <a:defRPr sz="2100" b="0" i="0" u="none">
                <a:solidFill>
                  <a:srgbClr val="000000"/>
                </a:solidFill>
                <a:latin typeface="Inter"/>
              </a:defRPr>
            </a:pPr>
            <a:r>
              <a:rPr lang="uk-UA" altLang="uk-UA" sz="2800" b="0" i="0">
                <a:solidFill>
                  <a:srgbClr val="000000"/>
                </a:solidFill>
                <a:latin typeface="Inter"/>
              </a:rPr>
              <a:t>Розділ “чим займатися</a:t>
            </a:r>
            <a:r>
              <a:rPr lang="en-US" altLang="uk-UA" sz="2800" b="0" i="0">
                <a:solidFill>
                  <a:srgbClr val="000000"/>
                </a:solidFill>
                <a:latin typeface="Inter"/>
              </a:rPr>
              <a:t>/</a:t>
            </a:r>
            <a:r>
              <a:rPr lang="uk-UA" altLang="en-US" sz="2800" b="0" i="0">
                <a:solidFill>
                  <a:srgbClr val="000000"/>
                </a:solidFill>
                <a:latin typeface="Inter"/>
              </a:rPr>
              <a:t>ідеї для майбутніх поїздок”</a:t>
            </a:r>
            <a:endParaRPr lang="uk-UA" altLang="en-US" sz="2800" b="0" i="0">
              <a:solidFill>
                <a:srgbClr val="000000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Изображение 12" descr="ChatGPT Image 26 сент. 2026 г., 16_03_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635" cy="10287635"/>
          </a:xfrm>
          <a:prstGeom prst="rect">
            <a:avLst/>
          </a:prstGeom>
        </p:spPr>
      </p:pic>
      <p:pic>
        <p:nvPicPr>
          <p:cNvPr id="2" name="Изображение 1" descr="q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7180" y="1384300"/>
            <a:ext cx="3246120" cy="3152775"/>
          </a:xfrm>
          <a:prstGeom prst="rect">
            <a:avLst/>
          </a:prstGeom>
        </p:spPr>
      </p:pic>
      <p:pic>
        <p:nvPicPr>
          <p:cNvPr id="3" name="Изображение 2" descr="qr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950" y="5274310"/>
            <a:ext cx="3246120" cy="3152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WPS Presentation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Arial</vt:lpstr>
      <vt:lpstr>Inter</vt:lpstr>
      <vt:lpstr>Segoe Print</vt:lpstr>
      <vt:lpstr>Aptos</vt:lpstr>
      <vt:lpstr>Segoe UI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Contr Strim</cp:lastModifiedBy>
  <cp:revision>3</cp:revision>
  <dcterms:created xsi:type="dcterms:W3CDTF">2013-01-27T09:14:00Z</dcterms:created>
  <dcterms:modified xsi:type="dcterms:W3CDTF">2026-10-10T10:33:37Z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C380B36D749B4EE5B494DC0F257B1D87_12</vt:lpwstr>
  </property>
</Properties>
</file>